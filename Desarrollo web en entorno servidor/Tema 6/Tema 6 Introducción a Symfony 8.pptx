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1147" y="1040839"/>
            <a:ext cx="678170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3" kern="0" dirty="0">
                <a:solidFill>
                  <a:srgbClr val="38BDF8"/>
                </a:solidFill>
              </a:rPr>
              <a:t>Tema 6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1181147" y="1346234"/>
            <a:ext cx="6781707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94A3B8"/>
                </a:solidFill>
              </a:rPr>
              <a:t>Introducción a Symfony 8</a:t>
            </a:r>
            <a:endParaRPr lang="en-US" sz="3731" dirty="0"/>
          </a:p>
        </p:txBody>
      </p:sp>
      <p:sp>
        <p:nvSpPr>
          <p:cNvPr id="5" name="Text 2"/>
          <p:cNvSpPr/>
          <p:nvPr/>
        </p:nvSpPr>
        <p:spPr>
          <a:xfrm>
            <a:off x="1181147" y="2054889"/>
            <a:ext cx="678170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A78BFA"/>
                </a:solidFill>
              </a:rPr>
              <a:t>Arquitectura Moderna &amp; Full Stack Development</a:t>
            </a:r>
            <a:endParaRPr lang="en-US" sz="1704" dirty="0"/>
          </a:p>
        </p:txBody>
      </p:sp>
      <p:sp>
        <p:nvSpPr>
          <p:cNvPr id="6" name="Shape 3"/>
          <p:cNvSpPr/>
          <p:nvPr/>
        </p:nvSpPr>
        <p:spPr>
          <a:xfrm>
            <a:off x="1000125" y="2796053"/>
            <a:ext cx="1625203" cy="1306581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852" y="2974646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6932" y="3367553"/>
            <a:ext cx="65156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Symfony 8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1234194" y="3649731"/>
            <a:ext cx="115706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Framework Core + PHP 8.4</a:t>
            </a:r>
            <a:endParaRPr lang="en-US" sz="674" dirty="0"/>
          </a:p>
        </p:txBody>
      </p:sp>
      <p:sp>
        <p:nvSpPr>
          <p:cNvPr id="10" name="Shape 6"/>
          <p:cNvSpPr/>
          <p:nvPr/>
        </p:nvSpPr>
        <p:spPr>
          <a:xfrm>
            <a:off x="2839641" y="2796053"/>
            <a:ext cx="1625203" cy="1306581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648" y="2974646"/>
            <a:ext cx="357188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29837" y="3367553"/>
            <a:ext cx="44481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Docker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3068464" y="3649731"/>
            <a:ext cx="116755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Nginx, PHP-FPM, Database</a:t>
            </a:r>
            <a:endParaRPr lang="en-US" sz="674" dirty="0"/>
          </a:p>
        </p:txBody>
      </p:sp>
      <p:sp>
        <p:nvSpPr>
          <p:cNvPr id="14" name="Shape 9"/>
          <p:cNvSpPr/>
          <p:nvPr/>
        </p:nvSpPr>
        <p:spPr>
          <a:xfrm>
            <a:off x="4679156" y="2796053"/>
            <a:ext cx="1625203" cy="1306581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742" y="3039666"/>
            <a:ext cx="250031" cy="285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21328" y="3432572"/>
            <a:ext cx="54086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Doctrine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4859117" y="3714750"/>
            <a:ext cx="126525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ORM &amp; Database Abstraction</a:t>
            </a:r>
            <a:endParaRPr lang="en-US" sz="674" dirty="0"/>
          </a:p>
        </p:txBody>
      </p:sp>
      <p:sp>
        <p:nvSpPr>
          <p:cNvPr id="18" name="Shape 12"/>
          <p:cNvSpPr/>
          <p:nvPr/>
        </p:nvSpPr>
        <p:spPr>
          <a:xfrm>
            <a:off x="6518672" y="2861072"/>
            <a:ext cx="1625203" cy="1176570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398" y="3046809"/>
            <a:ext cx="285750" cy="2857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18052" y="3439716"/>
            <a:ext cx="82644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AssetMapper</a:t>
            </a:r>
            <a:endParaRPr lang="en-US" sz="885" dirty="0"/>
          </a:p>
        </p:txBody>
      </p:sp>
      <p:sp>
        <p:nvSpPr>
          <p:cNvPr id="21" name="Text 14"/>
          <p:cNvSpPr/>
          <p:nvPr/>
        </p:nvSpPr>
        <p:spPr>
          <a:xfrm>
            <a:off x="6787093" y="3721894"/>
            <a:ext cx="108833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Tailwind, Stimulus, Turbo</a:t>
            </a:r>
            <a:endParaRPr lang="en-US" sz="67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09042"/>
            <a:ext cx="8001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73247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</a:rPr>
              <a:t>Novedades de Symfony 8</a:t>
            </a:r>
            <a:endParaRPr lang="en-US" sz="2121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0" y="490240"/>
            <a:ext cx="285750" cy="2857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1080492"/>
            <a:ext cx="3914775" cy="192166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71500" y="1080492"/>
            <a:ext cx="28575" cy="1903809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9" name="Shape 5"/>
          <p:cNvSpPr/>
          <p:nvPr/>
        </p:nvSpPr>
        <p:spPr>
          <a:xfrm>
            <a:off x="700088" y="1209080"/>
            <a:ext cx="285750" cy="285750"/>
          </a:xfrm>
          <a:prstGeom prst="rect">
            <a:avLst/>
          </a:prstGeom>
          <a:solidFill>
            <a:srgbClr val="A78BFA">
              <a:alpha val="1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66" y="1280517"/>
            <a:ext cx="178594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2994" y="1254621"/>
            <a:ext cx="179880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Configuración PHP Nativa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700088" y="1601986"/>
            <a:ext cx="36576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Adiós YAML/XML. Symfony 8 adopta arrays de PHP con "array shapes" para una configuración tipada, autocompletable y más rápida.</a:t>
            </a:r>
            <a:endParaRPr lang="en-US" sz="780" dirty="0"/>
          </a:p>
        </p:txBody>
      </p:sp>
      <p:sp>
        <p:nvSpPr>
          <p:cNvPr id="13" name="Shape 8"/>
          <p:cNvSpPr/>
          <p:nvPr/>
        </p:nvSpPr>
        <p:spPr>
          <a:xfrm>
            <a:off x="700088" y="2046684"/>
            <a:ext cx="3657600" cy="819745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00088" y="2046684"/>
            <a:ext cx="3657600" cy="81974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return [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86EFAC"/>
                </a:solidFill>
              </a:rPr>
              <a:t>'framework'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=&gt; [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86EFAC"/>
                </a:solidFill>
              </a:rPr>
              <a:t>'secret'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=&gt;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78BFA"/>
                </a:solidFill>
              </a:rPr>
              <a:t>'%env(APP_SECRET)%'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],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];</a:t>
            </a:r>
            <a:endParaRPr lang="en-US" sz="674" dirty="0"/>
          </a:p>
        </p:txBody>
      </p:sp>
      <p:sp>
        <p:nvSpPr>
          <p:cNvPr id="15" name="Shape 10"/>
          <p:cNvSpPr/>
          <p:nvPr/>
        </p:nvSpPr>
        <p:spPr>
          <a:xfrm>
            <a:off x="4657725" y="1080492"/>
            <a:ext cx="3914775" cy="190738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657725" y="1080492"/>
            <a:ext cx="28575" cy="1903809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7" name="Shape 12"/>
          <p:cNvSpPr/>
          <p:nvPr/>
        </p:nvSpPr>
        <p:spPr>
          <a:xfrm>
            <a:off x="4786313" y="1209080"/>
            <a:ext cx="285750" cy="285750"/>
          </a:xfrm>
          <a:prstGeom prst="rect">
            <a:avLst/>
          </a:prstGeom>
          <a:solidFill>
            <a:srgbClr val="F472B6">
              <a:alpha val="10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1280517"/>
            <a:ext cx="142875" cy="1428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79219" y="1254621"/>
            <a:ext cx="123988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Atributos en Todo</a:t>
            </a:r>
            <a:endParaRPr lang="en-US" sz="987" dirty="0"/>
          </a:p>
        </p:txBody>
      </p:sp>
      <p:sp>
        <p:nvSpPr>
          <p:cNvPr id="20" name="Text 14"/>
          <p:cNvSpPr/>
          <p:nvPr/>
        </p:nvSpPr>
        <p:spPr>
          <a:xfrm>
            <a:off x="4786313" y="1601986"/>
            <a:ext cx="36576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Configuración descentralizada usando Atributos de PHP 8. Rutas, Seguridad, Entidades y Servicios se definen junto al código.</a:t>
            </a:r>
            <a:endParaRPr lang="en-US" sz="780" dirty="0"/>
          </a:p>
        </p:txBody>
      </p:sp>
      <p:sp>
        <p:nvSpPr>
          <p:cNvPr id="21" name="Shape 15"/>
          <p:cNvSpPr/>
          <p:nvPr/>
        </p:nvSpPr>
        <p:spPr>
          <a:xfrm>
            <a:off x="4786313" y="2293144"/>
            <a:ext cx="3657600" cy="56614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786313" y="2293144"/>
            <a:ext cx="3657600" cy="56614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#[Route('/blog', name: 'blog_list')]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#[IsGranted('ROLE_USER')]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public function index(): Response</a:t>
            </a:r>
            <a:endParaRPr lang="en-US" sz="674" dirty="0"/>
          </a:p>
        </p:txBody>
      </p:sp>
      <p:sp>
        <p:nvSpPr>
          <p:cNvPr id="23" name="Shape 17"/>
          <p:cNvSpPr/>
          <p:nvPr/>
        </p:nvSpPr>
        <p:spPr>
          <a:xfrm>
            <a:off x="571500" y="3159323"/>
            <a:ext cx="3914775" cy="155555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71500" y="3159323"/>
            <a:ext cx="28575" cy="152340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Shape 19"/>
          <p:cNvSpPr/>
          <p:nvPr/>
        </p:nvSpPr>
        <p:spPr>
          <a:xfrm>
            <a:off x="700088" y="3287911"/>
            <a:ext cx="285750" cy="28575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595" y="3359348"/>
            <a:ext cx="160734" cy="1428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92994" y="3333452"/>
            <a:ext cx="91827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AssetMapper</a:t>
            </a:r>
            <a:endParaRPr lang="en-US" sz="987" dirty="0"/>
          </a:p>
        </p:txBody>
      </p:sp>
      <p:sp>
        <p:nvSpPr>
          <p:cNvPr id="28" name="Text 21"/>
          <p:cNvSpPr/>
          <p:nvPr/>
        </p:nvSpPr>
        <p:spPr>
          <a:xfrm>
            <a:off x="700088" y="3680817"/>
            <a:ext cx="36576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Gestión de assets moderna sin Node.js ni Webpack. Usa estándares web (Import Maps) para cargar JS y CSS directamente en el navegador.</a:t>
            </a:r>
            <a:endParaRPr lang="en-US" sz="780" dirty="0"/>
          </a:p>
        </p:txBody>
      </p:sp>
      <p:sp>
        <p:nvSpPr>
          <p:cNvPr id="29" name="Shape 22"/>
          <p:cNvSpPr/>
          <p:nvPr/>
        </p:nvSpPr>
        <p:spPr>
          <a:xfrm>
            <a:off x="700088" y="4146947"/>
            <a:ext cx="3657600" cy="439341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00088" y="4146947"/>
            <a:ext cx="3657600" cy="4393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import { Controller } from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86EFAC"/>
                </a:solidFill>
              </a:rPr>
              <a:t>'@hotwired/stimulus'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// Carga directa desde vendor/</a:t>
            </a:r>
            <a:endParaRPr lang="en-US" sz="674" dirty="0"/>
          </a:p>
        </p:txBody>
      </p:sp>
      <p:sp>
        <p:nvSpPr>
          <p:cNvPr id="31" name="Shape 24"/>
          <p:cNvSpPr/>
          <p:nvPr/>
        </p:nvSpPr>
        <p:spPr>
          <a:xfrm>
            <a:off x="4657725" y="3159323"/>
            <a:ext cx="3914775" cy="155555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657725" y="3166467"/>
            <a:ext cx="28575" cy="152340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3" name="Shape 26"/>
          <p:cNvSpPr/>
          <p:nvPr/>
        </p:nvSpPr>
        <p:spPr>
          <a:xfrm>
            <a:off x="4786313" y="3295055"/>
            <a:ext cx="285750" cy="285750"/>
          </a:xfrm>
          <a:prstGeom prst="rect">
            <a:avLst/>
          </a:prstGeom>
          <a:solidFill>
            <a:srgbClr val="34D399">
              <a:alpha val="10000"/>
            </a:srgbClr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820" y="3366492"/>
            <a:ext cx="160734" cy="14287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79219" y="3340596"/>
            <a:ext cx="125517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Rendimiento Core</a:t>
            </a:r>
            <a:endParaRPr lang="en-US" sz="987" dirty="0"/>
          </a:p>
        </p:txBody>
      </p:sp>
      <p:sp>
        <p:nvSpPr>
          <p:cNvPr id="36" name="Text 28"/>
          <p:cNvSpPr/>
          <p:nvPr/>
        </p:nvSpPr>
        <p:spPr>
          <a:xfrm>
            <a:off x="4786313" y="3687961"/>
            <a:ext cx="36576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Requiere PHP 8.4+. Código base más ligero, eliminación de código legacy y optimizaciones profundas en el contenedor de servicios.</a:t>
            </a:r>
            <a:endParaRPr lang="en-US" sz="780" dirty="0"/>
          </a:p>
        </p:txBody>
      </p:sp>
      <p:sp>
        <p:nvSpPr>
          <p:cNvPr id="37" name="Shape 29"/>
          <p:cNvSpPr/>
          <p:nvPr/>
        </p:nvSpPr>
        <p:spPr>
          <a:xfrm>
            <a:off x="4786313" y="4146947"/>
            <a:ext cx="3657600" cy="439341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4786313" y="4146947"/>
            <a:ext cx="3657600" cy="4393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78BFA"/>
                </a:solidFill>
              </a:rPr>
              <a:t>JIT Compiler Friendly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Type System robusto</a:t>
            </a:r>
            <a:endParaRPr lang="en-US" sz="67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589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80480"/>
            <a:ext cx="8001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274014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</a:rPr>
              <a:t>Entorno de Desarrollo</a:t>
            </a:r>
            <a:endParaRPr lang="en-US" sz="2121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3" y="490240"/>
            <a:ext cx="357188" cy="28575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7484"/>
            <a:ext cx="192881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0106" y="1266230"/>
            <a:ext cx="203529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</a:rPr>
              <a:t>Infraestructura (Docker)</a:t>
            </a:r>
            <a:endParaRPr lang="en-US" sz="1193" dirty="0"/>
          </a:p>
        </p:txBody>
      </p:sp>
      <p:sp>
        <p:nvSpPr>
          <p:cNvPr id="9" name="Shape 4"/>
          <p:cNvSpPr/>
          <p:nvPr/>
        </p:nvSpPr>
        <p:spPr>
          <a:xfrm>
            <a:off x="571500" y="1678781"/>
            <a:ext cx="3786188" cy="266819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785813" y="1893094"/>
            <a:ext cx="3357563" cy="646509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981" y="2094905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28750" y="2035969"/>
            <a:ext cx="13211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Nginx</a:t>
            </a:r>
            <a:endParaRPr lang="en-US" sz="885" dirty="0"/>
          </a:p>
        </p:txBody>
      </p:sp>
      <p:sp>
        <p:nvSpPr>
          <p:cNvPr id="13" name="Text 7"/>
          <p:cNvSpPr/>
          <p:nvPr/>
        </p:nvSpPr>
        <p:spPr>
          <a:xfrm>
            <a:off x="1428750" y="2246709"/>
            <a:ext cx="13211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Servidor Web, Proxy Inverso</a:t>
            </a:r>
            <a:endParaRPr lang="en-US" sz="727" dirty="0"/>
          </a:p>
        </p:txBody>
      </p:sp>
      <p:sp>
        <p:nvSpPr>
          <p:cNvPr id="14" name="Shape 8"/>
          <p:cNvSpPr/>
          <p:nvPr/>
        </p:nvSpPr>
        <p:spPr>
          <a:xfrm>
            <a:off x="785813" y="2668191"/>
            <a:ext cx="3357563" cy="646509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406" y="2870002"/>
            <a:ext cx="28575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28750" y="2811066"/>
            <a:ext cx="17365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PHP-FPM 8.4</a:t>
            </a:r>
            <a:endParaRPr lang="en-US" sz="885" dirty="0"/>
          </a:p>
        </p:txBody>
      </p:sp>
      <p:sp>
        <p:nvSpPr>
          <p:cNvPr id="17" name="Text 10"/>
          <p:cNvSpPr/>
          <p:nvPr/>
        </p:nvSpPr>
        <p:spPr>
          <a:xfrm>
            <a:off x="1428750" y="3021806"/>
            <a:ext cx="173651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Intérprete PHP, Extensiones Symfony</a:t>
            </a:r>
            <a:endParaRPr lang="en-US" sz="727" dirty="0"/>
          </a:p>
        </p:txBody>
      </p:sp>
      <p:sp>
        <p:nvSpPr>
          <p:cNvPr id="18" name="Shape 11"/>
          <p:cNvSpPr/>
          <p:nvPr/>
        </p:nvSpPr>
        <p:spPr>
          <a:xfrm>
            <a:off x="785813" y="3443288"/>
            <a:ext cx="3357563" cy="646509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269" y="3645098"/>
            <a:ext cx="200025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428750" y="3586163"/>
            <a:ext cx="1614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Base de Datos</a:t>
            </a:r>
            <a:endParaRPr lang="en-US" sz="885" dirty="0"/>
          </a:p>
        </p:txBody>
      </p:sp>
      <p:sp>
        <p:nvSpPr>
          <p:cNvPr id="21" name="Text 13"/>
          <p:cNvSpPr/>
          <p:nvPr/>
        </p:nvSpPr>
        <p:spPr>
          <a:xfrm>
            <a:off x="1428750" y="3796903"/>
            <a:ext cx="1614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MySQL / PostgreSQL (Persistencia)</a:t>
            </a:r>
            <a:endParaRPr lang="en-US" sz="727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1297484"/>
            <a:ext cx="192881" cy="17145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064919" y="1266230"/>
            <a:ext cx="210472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</a:rPr>
              <a:t>Symfony CLI &amp; Composer</a:t>
            </a:r>
            <a:endParaRPr lang="en-US" sz="1193" dirty="0"/>
          </a:p>
        </p:txBody>
      </p:sp>
      <p:sp>
        <p:nvSpPr>
          <p:cNvPr id="24" name="Shape 15"/>
          <p:cNvSpPr/>
          <p:nvPr/>
        </p:nvSpPr>
        <p:spPr>
          <a:xfrm>
            <a:off x="4786313" y="1678781"/>
            <a:ext cx="3786188" cy="303609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4786313" y="1678781"/>
            <a:ext cx="3786188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17"/>
          <p:cNvSpPr/>
          <p:nvPr/>
        </p:nvSpPr>
        <p:spPr>
          <a:xfrm>
            <a:off x="4929188" y="2121694"/>
            <a:ext cx="35004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# 1. Crear proyecto nuevo</a:t>
            </a:r>
            <a:endParaRPr lang="en-US" sz="727" dirty="0"/>
          </a:p>
        </p:txBody>
      </p:sp>
      <p:sp>
        <p:nvSpPr>
          <p:cNvPr id="27" name="Text 18"/>
          <p:cNvSpPr/>
          <p:nvPr/>
        </p:nvSpPr>
        <p:spPr>
          <a:xfrm>
            <a:off x="4929188" y="2337429"/>
            <a:ext cx="6052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A78BFA"/>
                </a:solidFill>
              </a:rPr>
              <a:t>user@dev:~$</a:t>
            </a:r>
            <a:endParaRPr lang="en-US" sz="727" dirty="0"/>
          </a:p>
        </p:txBody>
      </p:sp>
      <p:sp>
        <p:nvSpPr>
          <p:cNvPr id="28" name="Text 19"/>
          <p:cNvSpPr/>
          <p:nvPr/>
        </p:nvSpPr>
        <p:spPr>
          <a:xfrm>
            <a:off x="5560489" y="2337429"/>
            <a:ext cx="24036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F8FAFC"/>
                </a:solidFill>
              </a:rPr>
              <a:t>composer create-project symfony/skeleton my_app</a:t>
            </a:r>
            <a:endParaRPr lang="en-US" sz="727" dirty="0"/>
          </a:p>
        </p:txBody>
      </p:sp>
      <p:sp>
        <p:nvSpPr>
          <p:cNvPr id="29" name="Text 20"/>
          <p:cNvSpPr/>
          <p:nvPr/>
        </p:nvSpPr>
        <p:spPr>
          <a:xfrm>
            <a:off x="4929188" y="2567453"/>
            <a:ext cx="35004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# 2. Verificar requisitos del sistema</a:t>
            </a:r>
            <a:endParaRPr lang="en-US" sz="727" dirty="0"/>
          </a:p>
        </p:txBody>
      </p:sp>
      <p:sp>
        <p:nvSpPr>
          <p:cNvPr id="30" name="Text 21"/>
          <p:cNvSpPr/>
          <p:nvPr/>
        </p:nvSpPr>
        <p:spPr>
          <a:xfrm>
            <a:off x="4929188" y="2783188"/>
            <a:ext cx="6052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A78BFA"/>
                </a:solidFill>
              </a:rPr>
              <a:t>user@dev:~$</a:t>
            </a:r>
            <a:endParaRPr lang="en-US" sz="727" dirty="0"/>
          </a:p>
        </p:txBody>
      </p:sp>
      <p:sp>
        <p:nvSpPr>
          <p:cNvPr id="31" name="Text 22"/>
          <p:cNvSpPr/>
          <p:nvPr/>
        </p:nvSpPr>
        <p:spPr>
          <a:xfrm>
            <a:off x="5560489" y="2783188"/>
            <a:ext cx="13568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F8FAFC"/>
                </a:solidFill>
              </a:rPr>
              <a:t>symfony check:requirements</a:t>
            </a:r>
            <a:endParaRPr lang="en-US" sz="727" dirty="0"/>
          </a:p>
        </p:txBody>
      </p:sp>
      <p:sp>
        <p:nvSpPr>
          <p:cNvPr id="32" name="Text 23"/>
          <p:cNvSpPr/>
          <p:nvPr/>
        </p:nvSpPr>
        <p:spPr>
          <a:xfrm>
            <a:off x="4929188" y="3013211"/>
            <a:ext cx="35004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# 3. Levantar servidor local (con TLS)</a:t>
            </a:r>
            <a:endParaRPr lang="en-US" sz="727" dirty="0"/>
          </a:p>
        </p:txBody>
      </p:sp>
      <p:sp>
        <p:nvSpPr>
          <p:cNvPr id="33" name="Text 24"/>
          <p:cNvSpPr/>
          <p:nvPr/>
        </p:nvSpPr>
        <p:spPr>
          <a:xfrm>
            <a:off x="4929188" y="3228947"/>
            <a:ext cx="6052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A78BFA"/>
                </a:solidFill>
              </a:rPr>
              <a:t>user@dev:~$</a:t>
            </a:r>
            <a:endParaRPr lang="en-US" sz="727" dirty="0"/>
          </a:p>
        </p:txBody>
      </p:sp>
      <p:sp>
        <p:nvSpPr>
          <p:cNvPr id="34" name="Text 25"/>
          <p:cNvSpPr/>
          <p:nvPr/>
        </p:nvSpPr>
        <p:spPr>
          <a:xfrm>
            <a:off x="5560489" y="3228947"/>
            <a:ext cx="108434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F8FAFC"/>
                </a:solidFill>
              </a:rPr>
              <a:t>symfony server:start -d</a:t>
            </a:r>
            <a:endParaRPr lang="en-US" sz="727" dirty="0"/>
          </a:p>
        </p:txBody>
      </p:sp>
      <p:sp>
        <p:nvSpPr>
          <p:cNvPr id="35" name="Text 26"/>
          <p:cNvSpPr/>
          <p:nvPr/>
        </p:nvSpPr>
        <p:spPr>
          <a:xfrm>
            <a:off x="4929188" y="3458970"/>
            <a:ext cx="35004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# 4. Ejecutar comandos dentro del contenedor</a:t>
            </a:r>
            <a:endParaRPr lang="en-US" sz="727" dirty="0"/>
          </a:p>
        </p:txBody>
      </p:sp>
      <p:sp>
        <p:nvSpPr>
          <p:cNvPr id="36" name="Text 27"/>
          <p:cNvSpPr/>
          <p:nvPr/>
        </p:nvSpPr>
        <p:spPr>
          <a:xfrm>
            <a:off x="4929188" y="3674706"/>
            <a:ext cx="6052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A78BFA"/>
                </a:solidFill>
              </a:rPr>
              <a:t>user@dev:~$</a:t>
            </a:r>
            <a:endParaRPr lang="en-US" sz="727" dirty="0"/>
          </a:p>
        </p:txBody>
      </p:sp>
      <p:sp>
        <p:nvSpPr>
          <p:cNvPr id="37" name="Text 28"/>
          <p:cNvSpPr/>
          <p:nvPr/>
        </p:nvSpPr>
        <p:spPr>
          <a:xfrm>
            <a:off x="5560489" y="3674706"/>
            <a:ext cx="19569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F8FAFC"/>
                </a:solidFill>
              </a:rPr>
              <a:t>docker compose exec php bin/console list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14400"/>
            <a:ext cx="800100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8448"/>
            <a:ext cx="341354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</a:rPr>
              <a:t>Estructura de Proyecto</a:t>
            </a:r>
            <a:endParaRPr lang="en-US" sz="2121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031" y="500063"/>
            <a:ext cx="321469" cy="2857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1143000"/>
            <a:ext cx="2857500" cy="385762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4" y="1341239"/>
            <a:ext cx="107156" cy="1071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42975" y="1321594"/>
            <a:ext cx="35308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assets/</a:t>
            </a:r>
            <a:endParaRPr lang="en-US" sz="78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1544836"/>
            <a:ext cx="107156" cy="1071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42975" y="1525191"/>
            <a:ext cx="19963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bin/</a:t>
            </a:r>
            <a:endParaRPr lang="en-US" sz="78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1748433"/>
            <a:ext cx="107156" cy="10715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42975" y="1728788"/>
            <a:ext cx="3527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config/</a:t>
            </a:r>
            <a:endParaRPr lang="en-US" sz="78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1952030"/>
            <a:ext cx="107156" cy="10715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42975" y="1932384"/>
            <a:ext cx="34463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public/</a:t>
            </a:r>
            <a:endParaRPr lang="en-US" sz="780" dirty="0"/>
          </a:p>
        </p:txBody>
      </p:sp>
      <p:sp>
        <p:nvSpPr>
          <p:cNvPr id="16" name="Shape 8"/>
          <p:cNvSpPr/>
          <p:nvPr/>
        </p:nvSpPr>
        <p:spPr>
          <a:xfrm>
            <a:off x="692944" y="2135981"/>
            <a:ext cx="2557463" cy="203597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2184202"/>
            <a:ext cx="107156" cy="10715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42975" y="2164556"/>
            <a:ext cx="19910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38BDF8"/>
                </a:solidFill>
              </a:rPr>
              <a:t>src/</a:t>
            </a:r>
            <a:endParaRPr lang="en-US" sz="734" dirty="0"/>
          </a:p>
        </p:txBody>
      </p:sp>
      <p:sp>
        <p:nvSpPr>
          <p:cNvPr id="19" name="Shape 10"/>
          <p:cNvSpPr/>
          <p:nvPr/>
        </p:nvSpPr>
        <p:spPr>
          <a:xfrm>
            <a:off x="692944" y="2396728"/>
            <a:ext cx="2557463" cy="203597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094" y="2444948"/>
            <a:ext cx="107156" cy="10715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942975" y="2425303"/>
            <a:ext cx="58765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38BDF8"/>
                </a:solidFill>
              </a:rPr>
              <a:t>templates/</a:t>
            </a:r>
            <a:endParaRPr lang="en-US" sz="734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094" y="2677120"/>
            <a:ext cx="107156" cy="107156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942975" y="2657475"/>
            <a:ext cx="28033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tests/</a:t>
            </a:r>
            <a:endParaRPr lang="en-US" sz="78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094" y="2880717"/>
            <a:ext cx="107156" cy="107156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942975" y="2861072"/>
            <a:ext cx="1986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var/</a:t>
            </a:r>
            <a:endParaRPr lang="en-US" sz="78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094" y="3084314"/>
            <a:ext cx="107156" cy="107156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942975" y="3064669"/>
            <a:ext cx="39594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vendor/</a:t>
            </a:r>
            <a:endParaRPr lang="en-US" sz="78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094" y="3287911"/>
            <a:ext cx="133945" cy="107156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969764" y="3268266"/>
            <a:ext cx="73028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compose.yaml</a:t>
            </a:r>
            <a:endParaRPr lang="en-US" sz="78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0094" y="3491508"/>
            <a:ext cx="80367" cy="107156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916186" y="3471863"/>
            <a:ext cx="72481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composer.json</a:t>
            </a:r>
            <a:endParaRPr lang="en-US" sz="780" dirty="0"/>
          </a:p>
        </p:txBody>
      </p:sp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0094" y="3695105"/>
            <a:ext cx="80367" cy="107156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916186" y="3675459"/>
            <a:ext cx="7944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importmap.php</a:t>
            </a:r>
            <a:endParaRPr lang="en-US" sz="780" dirty="0"/>
          </a:p>
        </p:txBody>
      </p:sp>
      <p:pic>
        <p:nvPicPr>
          <p:cNvPr id="3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0094" y="3898702"/>
            <a:ext cx="80367" cy="107156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916186" y="3879056"/>
            <a:ext cx="6543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symfony.lock</a:t>
            </a:r>
            <a:endParaRPr lang="en-US" sz="780" dirty="0"/>
          </a:p>
        </p:txBody>
      </p:sp>
      <p:sp>
        <p:nvSpPr>
          <p:cNvPr id="36" name="Shape 19"/>
          <p:cNvSpPr/>
          <p:nvPr/>
        </p:nvSpPr>
        <p:spPr>
          <a:xfrm>
            <a:off x="3786188" y="1143000"/>
            <a:ext cx="4786313" cy="70505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Shape 20"/>
          <p:cNvSpPr/>
          <p:nvPr/>
        </p:nvSpPr>
        <p:spPr>
          <a:xfrm>
            <a:off x="3786188" y="1143000"/>
            <a:ext cx="35719" cy="70505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Text 21"/>
          <p:cNvSpPr/>
          <p:nvPr/>
        </p:nvSpPr>
        <p:spPr>
          <a:xfrm>
            <a:off x="3929063" y="1250156"/>
            <a:ext cx="2325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src/</a:t>
            </a:r>
            <a:endParaRPr lang="en-US" sz="885" dirty="0"/>
          </a:p>
        </p:txBody>
      </p:sp>
      <p:sp>
        <p:nvSpPr>
          <p:cNvPr id="39" name="Shape 22"/>
          <p:cNvSpPr/>
          <p:nvPr/>
        </p:nvSpPr>
        <p:spPr>
          <a:xfrm>
            <a:off x="8000107" y="1250156"/>
            <a:ext cx="429518" cy="17502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Text 23"/>
          <p:cNvSpPr/>
          <p:nvPr/>
        </p:nvSpPr>
        <p:spPr>
          <a:xfrm>
            <a:off x="8000107" y="1250156"/>
            <a:ext cx="429518" cy="175022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2E8F0"/>
                </a:solidFill>
              </a:rPr>
              <a:t>PHP 8.4</a:t>
            </a:r>
            <a:endParaRPr lang="en-US" sz="584" dirty="0"/>
          </a:p>
        </p:txBody>
      </p:sp>
      <p:sp>
        <p:nvSpPr>
          <p:cNvPr id="41" name="Text 24"/>
          <p:cNvSpPr/>
          <p:nvPr/>
        </p:nvSpPr>
        <p:spPr>
          <a:xfrm>
            <a:off x="3929063" y="1460897"/>
            <a:ext cx="45005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Lógica de negocio. Contiene Controladores, Entidades, Repositorios y Servicios. Todo bajo el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namespace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App\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.</a:t>
            </a:r>
            <a:endParaRPr lang="en-US" sz="727" dirty="0"/>
          </a:p>
        </p:txBody>
      </p:sp>
      <p:sp>
        <p:nvSpPr>
          <p:cNvPr id="42" name="Shape 25"/>
          <p:cNvSpPr/>
          <p:nvPr/>
        </p:nvSpPr>
        <p:spPr>
          <a:xfrm>
            <a:off x="3786188" y="1990930"/>
            <a:ext cx="4786313" cy="70505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Shape 26"/>
          <p:cNvSpPr/>
          <p:nvPr/>
        </p:nvSpPr>
        <p:spPr>
          <a:xfrm>
            <a:off x="3786188" y="1990930"/>
            <a:ext cx="35719" cy="705055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4" name="Text 27"/>
          <p:cNvSpPr/>
          <p:nvPr/>
        </p:nvSpPr>
        <p:spPr>
          <a:xfrm>
            <a:off x="3929063" y="2098086"/>
            <a:ext cx="6849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templates/</a:t>
            </a:r>
            <a:endParaRPr lang="en-US" sz="885" dirty="0"/>
          </a:p>
        </p:txBody>
      </p:sp>
      <p:sp>
        <p:nvSpPr>
          <p:cNvPr id="45" name="Shape 28"/>
          <p:cNvSpPr/>
          <p:nvPr/>
        </p:nvSpPr>
        <p:spPr>
          <a:xfrm>
            <a:off x="8118732" y="2098086"/>
            <a:ext cx="310893" cy="17502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29"/>
          <p:cNvSpPr/>
          <p:nvPr/>
        </p:nvSpPr>
        <p:spPr>
          <a:xfrm>
            <a:off x="8118732" y="2098086"/>
            <a:ext cx="310893" cy="175022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2E8F0"/>
                </a:solidFill>
              </a:rPr>
              <a:t>Twig</a:t>
            </a:r>
            <a:endParaRPr lang="en-US" sz="584" dirty="0"/>
          </a:p>
        </p:txBody>
      </p:sp>
      <p:sp>
        <p:nvSpPr>
          <p:cNvPr id="47" name="Text 30"/>
          <p:cNvSpPr/>
          <p:nvPr/>
        </p:nvSpPr>
        <p:spPr>
          <a:xfrm>
            <a:off x="3929063" y="2308827"/>
            <a:ext cx="45005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Vistas de la aplicación. Archivos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.html.twig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que definen la estructura visual y componentes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reutilizables.</a:t>
            </a:r>
            <a:endParaRPr lang="en-US" sz="727" dirty="0"/>
          </a:p>
        </p:txBody>
      </p:sp>
      <p:sp>
        <p:nvSpPr>
          <p:cNvPr id="48" name="Shape 31"/>
          <p:cNvSpPr/>
          <p:nvPr/>
        </p:nvSpPr>
        <p:spPr>
          <a:xfrm>
            <a:off x="3786188" y="2838859"/>
            <a:ext cx="4786313" cy="70505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9" name="Shape 32"/>
          <p:cNvSpPr/>
          <p:nvPr/>
        </p:nvSpPr>
        <p:spPr>
          <a:xfrm>
            <a:off x="3786188" y="2838859"/>
            <a:ext cx="35719" cy="705055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50" name="Text 33"/>
          <p:cNvSpPr/>
          <p:nvPr/>
        </p:nvSpPr>
        <p:spPr>
          <a:xfrm>
            <a:off x="3929063" y="2946016"/>
            <a:ext cx="44274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assets/</a:t>
            </a:r>
            <a:endParaRPr lang="en-US" sz="885" dirty="0"/>
          </a:p>
        </p:txBody>
      </p:sp>
      <p:sp>
        <p:nvSpPr>
          <p:cNvPr id="51" name="Shape 34"/>
          <p:cNvSpPr/>
          <p:nvPr/>
        </p:nvSpPr>
        <p:spPr>
          <a:xfrm>
            <a:off x="7764363" y="2946016"/>
            <a:ext cx="665262" cy="17502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2" name="Text 35"/>
          <p:cNvSpPr/>
          <p:nvPr/>
        </p:nvSpPr>
        <p:spPr>
          <a:xfrm>
            <a:off x="7764363" y="2946016"/>
            <a:ext cx="665262" cy="175022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2E8F0"/>
                </a:solidFill>
              </a:rPr>
              <a:t>AssetMapper</a:t>
            </a:r>
            <a:endParaRPr lang="en-US" sz="584" dirty="0"/>
          </a:p>
        </p:txBody>
      </p:sp>
      <p:sp>
        <p:nvSpPr>
          <p:cNvPr id="53" name="Text 36"/>
          <p:cNvSpPr/>
          <p:nvPr/>
        </p:nvSpPr>
        <p:spPr>
          <a:xfrm>
            <a:off x="3929063" y="3156756"/>
            <a:ext cx="45005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Frontend moderno sin Node.js. Archivos CSS, imágenes y controladores Stimulus servidos directamente.</a:t>
            </a:r>
            <a:endParaRPr lang="en-US" sz="727" dirty="0"/>
          </a:p>
        </p:txBody>
      </p:sp>
      <p:sp>
        <p:nvSpPr>
          <p:cNvPr id="54" name="Shape 37"/>
          <p:cNvSpPr/>
          <p:nvPr/>
        </p:nvSpPr>
        <p:spPr>
          <a:xfrm>
            <a:off x="3786188" y="3686789"/>
            <a:ext cx="4786313" cy="70505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Shape 38"/>
          <p:cNvSpPr/>
          <p:nvPr/>
        </p:nvSpPr>
        <p:spPr>
          <a:xfrm>
            <a:off x="3786188" y="3686789"/>
            <a:ext cx="35719" cy="705055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6" name="Text 39"/>
          <p:cNvSpPr/>
          <p:nvPr/>
        </p:nvSpPr>
        <p:spPr>
          <a:xfrm>
            <a:off x="3929063" y="3793945"/>
            <a:ext cx="4422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config/</a:t>
            </a:r>
            <a:endParaRPr lang="en-US" sz="885" dirty="0"/>
          </a:p>
        </p:txBody>
      </p:sp>
      <p:sp>
        <p:nvSpPr>
          <p:cNvPr id="57" name="Shape 40"/>
          <p:cNvSpPr/>
          <p:nvPr/>
        </p:nvSpPr>
        <p:spPr>
          <a:xfrm>
            <a:off x="8043137" y="3793945"/>
            <a:ext cx="386488" cy="17502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8" name="Text 41"/>
          <p:cNvSpPr/>
          <p:nvPr/>
        </p:nvSpPr>
        <p:spPr>
          <a:xfrm>
            <a:off x="8043137" y="3793945"/>
            <a:ext cx="386488" cy="175022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2E8F0"/>
                </a:solidFill>
              </a:rPr>
              <a:t>Config</a:t>
            </a:r>
            <a:endParaRPr lang="en-US" sz="584" dirty="0"/>
          </a:p>
        </p:txBody>
      </p:sp>
      <p:sp>
        <p:nvSpPr>
          <p:cNvPr id="59" name="Text 42"/>
          <p:cNvSpPr/>
          <p:nvPr/>
        </p:nvSpPr>
        <p:spPr>
          <a:xfrm>
            <a:off x="3929063" y="4004686"/>
            <a:ext cx="45005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Configuración de rutas, servicios, seguridad y paquetes. Centraliza el comportamiento del framework.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09042"/>
            <a:ext cx="8001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4538374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</a:rPr>
              <a:t>Controladores y Enrutamiento</a:t>
            </a:r>
            <a:endParaRPr lang="en-US" sz="2121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0" y="490240"/>
            <a:ext cx="285750" cy="2857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1080492"/>
            <a:ext cx="4592008" cy="377725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71500" y="1080492"/>
            <a:ext cx="4586288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1330523"/>
            <a:ext cx="4586288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1137642"/>
            <a:ext cx="15595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src/Controller/BlogController.php</a:t>
            </a:r>
            <a:endParaRPr lang="en-US" sz="727" dirty="0"/>
          </a:p>
        </p:txBody>
      </p:sp>
      <p:sp>
        <p:nvSpPr>
          <p:cNvPr id="11" name="Text 7"/>
          <p:cNvSpPr/>
          <p:nvPr/>
        </p:nvSpPr>
        <p:spPr>
          <a:xfrm>
            <a:off x="4681138" y="1137642"/>
            <a:ext cx="3623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PHP 8.4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571500" y="1330523"/>
            <a:ext cx="4586288" cy="22343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F472B6"/>
                </a:solidFill>
              </a:rPr>
              <a:t>&lt;?php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C084FC"/>
                </a:solidFill>
              </a:rPr>
              <a:t>namespace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 App\Controller;
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C084FC"/>
                </a:solidFill>
              </a:rPr>
              <a:t>use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 Symfony\Bundle\FrameworkBundle\Controller\AbstractController;
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C084FC"/>
                </a:solidFill>
              </a:rPr>
              <a:t>use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 Symfony\Component\HttpFoundation\Response;
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C084FC"/>
                </a:solidFill>
              </a:rPr>
              <a:t>use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 Symfony\Component\Routing\Attribute\Route;
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C084FC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FBBF24"/>
                </a:solidFill>
              </a:rPr>
              <a:t>BlogController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C084FC"/>
                </a:solidFill>
              </a:rPr>
              <a:t>extends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FBBF24"/>
                </a:solidFill>
              </a:rPr>
              <a:t>AbstractController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F472B6"/>
                </a:solidFill>
              </a:rPr>
              <a:t>#[Route('/blog/{slug}', name: 'blog_show')]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C084FC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60A5FA"/>
                </a:solidFill>
              </a:rPr>
              <a:t>show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C084FC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93C5FD"/>
                </a:solidFill>
              </a:rPr>
              <a:t>$slug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FBBF24"/>
                </a:solidFill>
              </a:rPr>
              <a:t>PostRepository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93C5FD"/>
                </a:solidFill>
              </a:rPr>
              <a:t>$posts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):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FBBF24"/>
                </a:solidFill>
              </a:rPr>
              <a:t>Response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93C5FD"/>
                </a:solidFill>
              </a:rPr>
              <a:t>$post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93C5FD"/>
                </a:solidFill>
              </a:rPr>
              <a:t>$posts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60A5FA"/>
                </a:solidFill>
              </a:rPr>
              <a:t>findOneBySlug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93C5FD"/>
                </a:solidFill>
              </a:rPr>
              <a:t>$slug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C084FC"/>
                </a:solidFill>
              </a:rPr>
              <a:t>if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 (!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93C5FD"/>
                </a:solidFill>
              </a:rPr>
              <a:t>$post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) {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C084FC"/>
                </a:solidFill>
              </a:rPr>
              <a:t>throw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93C5FD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60A5FA"/>
                </a:solidFill>
              </a:rPr>
              <a:t>createNotFoundException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(); }
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C084FC"/>
                </a:solidFill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93C5FD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60A5FA"/>
                </a:solidFill>
              </a:rPr>
              <a:t>render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86EFAC"/>
                </a:solidFill>
              </a:rPr>
              <a:t>'blog/show.html.twig'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, [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86EFAC"/>
                </a:solidFill>
              </a:rPr>
              <a:t>'post'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 =&gt;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93C5FD"/>
                </a:solidFill>
              </a:rPr>
              <a:t>$post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]);
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}</a:t>
            </a:r>
            <a:endParaRPr lang="en-US" sz="834" dirty="0"/>
          </a:p>
        </p:txBody>
      </p:sp>
      <p:sp>
        <p:nvSpPr>
          <p:cNvPr id="13" name="Shape 9"/>
          <p:cNvSpPr/>
          <p:nvPr/>
        </p:nvSpPr>
        <p:spPr>
          <a:xfrm>
            <a:off x="5514975" y="1080492"/>
            <a:ext cx="3057525" cy="746522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5514975" y="1080492"/>
            <a:ext cx="28575" cy="746522"/>
          </a:xfrm>
          <a:prstGeom prst="rect">
            <a:avLst/>
          </a:prstGeom>
          <a:solidFill>
            <a:srgbClr val="F472B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275" y="1218009"/>
            <a:ext cx="128588" cy="128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29300" y="1194792"/>
            <a:ext cx="98589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Atributos PHP 8</a:t>
            </a:r>
            <a:endParaRPr lang="en-US" sz="885" dirty="0"/>
          </a:p>
        </p:txBody>
      </p:sp>
      <p:sp>
        <p:nvSpPr>
          <p:cNvPr id="17" name="Text 12"/>
          <p:cNvSpPr/>
          <p:nvPr/>
        </p:nvSpPr>
        <p:spPr>
          <a:xfrm>
            <a:off x="5629275" y="1412677"/>
            <a:ext cx="28289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Definimos la ruta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/blog/{slug}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en el método.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Symfony extrae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$slug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de la URL.</a:t>
            </a:r>
            <a:endParaRPr lang="en-US" sz="780" dirty="0"/>
          </a:p>
        </p:txBody>
      </p:sp>
      <p:sp>
        <p:nvSpPr>
          <p:cNvPr id="18" name="Shape 13"/>
          <p:cNvSpPr/>
          <p:nvPr/>
        </p:nvSpPr>
        <p:spPr>
          <a:xfrm>
            <a:off x="5514975" y="1955602"/>
            <a:ext cx="3057525" cy="746522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5514975" y="1955602"/>
            <a:ext cx="28575" cy="746522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275" y="2093119"/>
            <a:ext cx="128588" cy="128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29300" y="2069902"/>
            <a:ext cx="9564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Autowiring (DI)</a:t>
            </a:r>
            <a:endParaRPr lang="en-US" sz="885" dirty="0"/>
          </a:p>
        </p:txBody>
      </p:sp>
      <p:sp>
        <p:nvSpPr>
          <p:cNvPr id="22" name="Text 16"/>
          <p:cNvSpPr/>
          <p:nvPr/>
        </p:nvSpPr>
        <p:spPr>
          <a:xfrm>
            <a:off x="5629275" y="2287786"/>
            <a:ext cx="28289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Declaramos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PostRepository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como argumento; el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contenedor lo inyecta automáticamente.</a:t>
            </a:r>
            <a:endParaRPr lang="en-US" sz="780" dirty="0"/>
          </a:p>
        </p:txBody>
      </p:sp>
      <p:sp>
        <p:nvSpPr>
          <p:cNvPr id="23" name="Shape 17"/>
          <p:cNvSpPr/>
          <p:nvPr/>
        </p:nvSpPr>
        <p:spPr>
          <a:xfrm>
            <a:off x="5514975" y="2830711"/>
            <a:ext cx="3057525" cy="746522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5514975" y="2830711"/>
            <a:ext cx="28575" cy="746522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9275" y="2968228"/>
            <a:ext cx="128588" cy="128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829300" y="2945011"/>
            <a:ext cx="105881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Objeto Response</a:t>
            </a:r>
            <a:endParaRPr lang="en-US" sz="885" dirty="0"/>
          </a:p>
        </p:txBody>
      </p:sp>
      <p:sp>
        <p:nvSpPr>
          <p:cNvPr id="27" name="Text 20"/>
          <p:cNvSpPr/>
          <p:nvPr/>
        </p:nvSpPr>
        <p:spPr>
          <a:xfrm>
            <a:off x="5629275" y="3162895"/>
            <a:ext cx="28289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Todo controlador devuelve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Response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. El método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render()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genera HTML usando Twig.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2326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766167"/>
            <a:ext cx="800100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2295292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</a:rPr>
              <a:t>Vistas con Twig</a:t>
            </a:r>
            <a:endParaRPr lang="en-US" sz="2121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0" y="418802"/>
            <a:ext cx="285750" cy="2857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980480"/>
            <a:ext cx="4286250" cy="12858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71500" y="980480"/>
            <a:ext cx="4286250" cy="24824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1221581"/>
            <a:ext cx="428625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6"/>
          <p:cNvSpPr/>
          <p:nvPr/>
        </p:nvSpPr>
        <p:spPr>
          <a:xfrm>
            <a:off x="678656" y="1037630"/>
            <a:ext cx="11160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templates/base.html.twig</a:t>
            </a:r>
            <a:endParaRPr lang="en-US" sz="674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223" y="1054596"/>
            <a:ext cx="105370" cy="928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1500" y="1221581"/>
            <a:ext cx="4286250" cy="104477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0CAF9"/>
                </a:solidFill>
              </a:rPr>
              <a:t>&lt;html&gt;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0CAF9"/>
                </a:solidFill>
              </a:rPr>
              <a:t>&lt;body&gt;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0CAF9"/>
                </a:solidFill>
              </a:rPr>
              <a:t>&lt;nav&gt;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Mi App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0CAF9"/>
                </a:solidFill>
              </a:rPr>
              <a:t>&lt;/nav&gt;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5D6A7"/>
                </a:solidFill>
              </a:rPr>
              <a:t>{% block body %}{% endblock %}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0CAF9"/>
                </a:solidFill>
              </a:rPr>
              <a:t>&lt;footer&gt;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© 2025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0CAF9"/>
                </a:solidFill>
              </a:rPr>
              <a:t>&lt;/footer&gt;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0CAF9"/>
                </a:solidFill>
              </a:rPr>
              <a:t>&lt;/body&gt;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0CAF9"/>
                </a:solidFill>
              </a:rPr>
              <a:t>&lt;/html&gt;</a:t>
            </a:r>
            <a:endParaRPr lang="en-US" sz="727" dirty="0"/>
          </a:p>
        </p:txBody>
      </p:sp>
      <p:sp>
        <p:nvSpPr>
          <p:cNvPr id="13" name="Shape 8"/>
          <p:cNvSpPr/>
          <p:nvPr/>
        </p:nvSpPr>
        <p:spPr>
          <a:xfrm>
            <a:off x="571500" y="2409230"/>
            <a:ext cx="4286250" cy="24288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71500" y="2409230"/>
            <a:ext cx="4286250" cy="2500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2652117"/>
            <a:ext cx="428625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1"/>
          <p:cNvSpPr/>
          <p:nvPr/>
        </p:nvSpPr>
        <p:spPr>
          <a:xfrm>
            <a:off x="678656" y="2470845"/>
            <a:ext cx="137698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templates/blog/index.html.twig</a:t>
            </a:r>
            <a:endParaRPr lang="en-US" sz="674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508" y="2487811"/>
            <a:ext cx="116086" cy="928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1500" y="2659261"/>
            <a:ext cx="4286250" cy="18645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5D6A7"/>
                </a:solidFill>
              </a:rPr>
              <a:t>{% extends 'base.html.twig' %}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5D6A7"/>
                </a:solidFill>
              </a:rPr>
              <a:t>{% block body %}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0CAF9"/>
                </a:solidFill>
              </a:rPr>
              <a:t>&lt;h1&gt;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Hola,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48FB1"/>
                </a:solidFill>
              </a:rPr>
              <a:t>{{ user.name }}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0CAF9"/>
                </a:solidFill>
              </a:rPr>
              <a:t>&lt;/h1&gt;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0CAF9"/>
                </a:solidFill>
              </a:rPr>
              <a:t>&lt;ul&gt;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5D6A7"/>
                </a:solidFill>
              </a:rPr>
              <a:t>{% for post in posts %}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0CAF9"/>
                </a:solidFill>
              </a:rPr>
              <a:t>&lt;li&gt;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48FB1"/>
                </a:solidFill>
              </a:rPr>
              <a:t>{{ post.title }}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0CAF9"/>
                </a:solidFill>
              </a:rPr>
              <a:t>&lt;/li&gt;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5D6A7"/>
                </a:solidFill>
              </a:rPr>
              <a:t>{% endfor %}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0CAF9"/>
                </a:solidFill>
              </a:rPr>
              <a:t>&lt;/ul&gt;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5D6A7"/>
                </a:solidFill>
              </a:rPr>
              <a:t>{% endblock %}</a:t>
            </a:r>
            <a:endParaRPr lang="en-US" sz="683" dirty="0"/>
          </a:p>
        </p:txBody>
      </p:sp>
      <p:sp>
        <p:nvSpPr>
          <p:cNvPr id="19" name="Shape 13"/>
          <p:cNvSpPr/>
          <p:nvPr/>
        </p:nvSpPr>
        <p:spPr>
          <a:xfrm>
            <a:off x="5143500" y="980480"/>
            <a:ext cx="3429000" cy="3857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5143500" y="980480"/>
            <a:ext cx="3429000" cy="25003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5"/>
          <p:cNvSpPr/>
          <p:nvPr/>
        </p:nvSpPr>
        <p:spPr>
          <a:xfrm>
            <a:off x="5143500" y="1223367"/>
            <a:ext cx="3429000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Text 16"/>
          <p:cNvSpPr/>
          <p:nvPr/>
        </p:nvSpPr>
        <p:spPr>
          <a:xfrm>
            <a:off x="5693569" y="1042095"/>
            <a:ext cx="85867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</a:rPr>
              <a:t>localhost:8000/blog</a:t>
            </a:r>
            <a:endParaRPr lang="en-US" sz="674" dirty="0"/>
          </a:p>
        </p:txBody>
      </p:sp>
      <p:sp>
        <p:nvSpPr>
          <p:cNvPr id="23" name="Text 17"/>
          <p:cNvSpPr/>
          <p:nvPr/>
        </p:nvSpPr>
        <p:spPr>
          <a:xfrm>
            <a:off x="5322094" y="1409105"/>
            <a:ext cx="3071813" cy="23395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4155"/>
                </a:solidFill>
              </a:rPr>
              <a:t>Mi App</a:t>
            </a:r>
            <a:endParaRPr lang="en-US" sz="784" dirty="0"/>
          </a:p>
        </p:txBody>
      </p:sp>
      <p:sp>
        <p:nvSpPr>
          <p:cNvPr id="24" name="Text 18"/>
          <p:cNvSpPr/>
          <p:nvPr/>
        </p:nvSpPr>
        <p:spPr>
          <a:xfrm>
            <a:off x="5322094" y="1785938"/>
            <a:ext cx="307181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E293B"/>
                </a:solidFill>
              </a:rPr>
              <a:t>Hola, Admin</a:t>
            </a:r>
            <a:endParaRPr lang="en-US" sz="1397" dirty="0"/>
          </a:p>
        </p:txBody>
      </p:sp>
      <p:sp>
        <p:nvSpPr>
          <p:cNvPr id="25" name="Text 19"/>
          <p:cNvSpPr/>
          <p:nvPr/>
        </p:nvSpPr>
        <p:spPr>
          <a:xfrm>
            <a:off x="5464969" y="2202061"/>
            <a:ext cx="292893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Novedades de Symfony 8</a:t>
            </a:r>
            <a:endParaRPr lang="en-US" sz="834" dirty="0"/>
          </a:p>
        </p:txBody>
      </p:sp>
      <p:sp>
        <p:nvSpPr>
          <p:cNvPr id="26" name="Text 20"/>
          <p:cNvSpPr/>
          <p:nvPr/>
        </p:nvSpPr>
        <p:spPr>
          <a:xfrm>
            <a:off x="5464969" y="2407779"/>
            <a:ext cx="292893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Tutorial de Docker</a:t>
            </a:r>
            <a:endParaRPr lang="en-US" sz="834" dirty="0"/>
          </a:p>
        </p:txBody>
      </p:sp>
      <p:sp>
        <p:nvSpPr>
          <p:cNvPr id="27" name="Text 21"/>
          <p:cNvSpPr/>
          <p:nvPr/>
        </p:nvSpPr>
        <p:spPr>
          <a:xfrm>
            <a:off x="5464969" y="2613496"/>
            <a:ext cx="292893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Componentes de Twig</a:t>
            </a:r>
            <a:endParaRPr lang="en-US" sz="834" dirty="0"/>
          </a:p>
        </p:txBody>
      </p:sp>
      <p:sp>
        <p:nvSpPr>
          <p:cNvPr id="28" name="Text 22"/>
          <p:cNvSpPr/>
          <p:nvPr/>
        </p:nvSpPr>
        <p:spPr>
          <a:xfrm>
            <a:off x="5322094" y="3104964"/>
            <a:ext cx="3071813" cy="194667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© 2025 Mi Empresa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589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80480"/>
            <a:ext cx="8001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653582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</a:rPr>
              <a:t>Datos con Doctrine ORM</a:t>
            </a:r>
            <a:endParaRPr lang="en-US" sz="2121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469" y="490240"/>
            <a:ext cx="250031" cy="2857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1326059"/>
            <a:ext cx="4213222" cy="332898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71500" y="1333202"/>
            <a:ext cx="4206887" cy="2857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1611809"/>
            <a:ext cx="4206887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6"/>
          <p:cNvSpPr/>
          <p:nvPr/>
        </p:nvSpPr>
        <p:spPr>
          <a:xfrm>
            <a:off x="571500" y="1333202"/>
            <a:ext cx="4206887" cy="285750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src/Entity/Product.php</a:t>
            </a:r>
            <a:endParaRPr lang="en-US" sz="727" dirty="0"/>
          </a:p>
        </p:txBody>
      </p:sp>
      <p:sp>
        <p:nvSpPr>
          <p:cNvPr id="11" name="Text 7"/>
          <p:cNvSpPr/>
          <p:nvPr/>
        </p:nvSpPr>
        <p:spPr>
          <a:xfrm>
            <a:off x="571500" y="1615380"/>
            <a:ext cx="4206887" cy="30289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472B6"/>
                </a:solidFill>
              </a:rPr>
              <a:t>#[ORM\Entity(repositoryClass: ProductRepository::class)]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084FC"/>
                </a:solidFill>
              </a:rPr>
              <a:t>class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BBF24"/>
                </a:solidFill>
              </a:rPr>
              <a:t>Product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{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472B6"/>
                </a:solidFill>
              </a:rPr>
              <a:t>#[ORM\Id]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472B6"/>
                </a:solidFill>
              </a:rPr>
              <a:t>#[ORM\GeneratedValue]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472B6"/>
                </a:solidFill>
              </a:rPr>
              <a:t>#[ORM\Column]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084FC"/>
                </a:solidFill>
              </a:rPr>
              <a:t>private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8FAFC"/>
                </a:solidFill>
              </a:rPr>
              <a:t>?int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3C5FD"/>
                </a:solidFill>
              </a:rPr>
              <a:t>$id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084FC"/>
                </a:solidFill>
              </a:rPr>
              <a:t>null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472B6"/>
                </a:solidFill>
              </a:rPr>
              <a:t>#[ORM\Column(length: 255)]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084FC"/>
                </a:solidFill>
              </a:rPr>
              <a:t>private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8FAFC"/>
                </a:solidFill>
              </a:rPr>
              <a:t>?string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3C5FD"/>
                </a:solidFill>
              </a:rPr>
              <a:t>$name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084FC"/>
                </a:solidFill>
              </a:rPr>
              <a:t>null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472B6"/>
                </a:solidFill>
              </a:rPr>
              <a:t>#[ORM\Column]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084FC"/>
                </a:solidFill>
              </a:rPr>
              <a:t>private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8FAFC"/>
                </a:solidFill>
              </a:rPr>
              <a:t>?float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3C5FD"/>
                </a:solidFill>
              </a:rPr>
              <a:t>$price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084FC"/>
                </a:solidFill>
              </a:rPr>
              <a:t>null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// Getters &amp; Setters...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}</a:t>
            </a:r>
            <a:endParaRPr lang="en-US" sz="734" dirty="0"/>
          </a:p>
        </p:txBody>
      </p:sp>
      <p:sp>
        <p:nvSpPr>
          <p:cNvPr id="12" name="Shape 8"/>
          <p:cNvSpPr/>
          <p:nvPr/>
        </p:nvSpPr>
        <p:spPr>
          <a:xfrm>
            <a:off x="5207012" y="1788616"/>
            <a:ext cx="3365488" cy="131980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207012" y="1795760"/>
            <a:ext cx="3365488" cy="36968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5314169" y="1902916"/>
            <a:ext cx="8116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</a:rPr>
              <a:t>Table: product</a:t>
            </a:r>
            <a:endParaRPr lang="en-US" sz="784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044" y="1923455"/>
            <a:ext cx="114300" cy="114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14169" y="2251174"/>
            <a:ext cx="26265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</a:rPr>
              <a:t>id</a:t>
            </a:r>
            <a:endParaRPr lang="en-US" sz="727" dirty="0"/>
          </a:p>
        </p:txBody>
      </p:sp>
      <p:sp>
        <p:nvSpPr>
          <p:cNvPr id="17" name="Text 12"/>
          <p:cNvSpPr/>
          <p:nvPr/>
        </p:nvSpPr>
        <p:spPr>
          <a:xfrm>
            <a:off x="7940753" y="2251174"/>
            <a:ext cx="5245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INT (PK, AI)</a:t>
            </a:r>
            <a:endParaRPr lang="en-US" sz="727" dirty="0"/>
          </a:p>
        </p:txBody>
      </p:sp>
      <p:sp>
        <p:nvSpPr>
          <p:cNvPr id="18" name="Text 13"/>
          <p:cNvSpPr/>
          <p:nvPr/>
        </p:nvSpPr>
        <p:spPr>
          <a:xfrm>
            <a:off x="5314169" y="2565499"/>
            <a:ext cx="24739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</a:rPr>
              <a:t>name</a:t>
            </a:r>
            <a:endParaRPr lang="en-US" sz="727" dirty="0"/>
          </a:p>
        </p:txBody>
      </p:sp>
      <p:sp>
        <p:nvSpPr>
          <p:cNvPr id="19" name="Text 14"/>
          <p:cNvSpPr/>
          <p:nvPr/>
        </p:nvSpPr>
        <p:spPr>
          <a:xfrm>
            <a:off x="7788139" y="2565499"/>
            <a:ext cx="67720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VARCHAR(255)</a:t>
            </a:r>
            <a:endParaRPr lang="en-US" sz="727" dirty="0"/>
          </a:p>
        </p:txBody>
      </p:sp>
      <p:sp>
        <p:nvSpPr>
          <p:cNvPr id="20" name="Text 15"/>
          <p:cNvSpPr/>
          <p:nvPr/>
        </p:nvSpPr>
        <p:spPr>
          <a:xfrm>
            <a:off x="5314169" y="2879824"/>
            <a:ext cx="27539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</a:rPr>
              <a:t>price</a:t>
            </a:r>
            <a:endParaRPr lang="en-US" sz="727" dirty="0"/>
          </a:p>
        </p:txBody>
      </p:sp>
      <p:sp>
        <p:nvSpPr>
          <p:cNvPr id="21" name="Text 16"/>
          <p:cNvSpPr/>
          <p:nvPr/>
        </p:nvSpPr>
        <p:spPr>
          <a:xfrm>
            <a:off x="8068084" y="2879824"/>
            <a:ext cx="3972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DOUBLE</a:t>
            </a:r>
            <a:endParaRPr lang="en-US" sz="727" dirty="0"/>
          </a:p>
        </p:txBody>
      </p:sp>
      <p:sp>
        <p:nvSpPr>
          <p:cNvPr id="22" name="Shape 17"/>
          <p:cNvSpPr/>
          <p:nvPr/>
        </p:nvSpPr>
        <p:spPr>
          <a:xfrm>
            <a:off x="5207012" y="3315593"/>
            <a:ext cx="3365488" cy="383977"/>
          </a:xfrm>
          <a:prstGeom prst="rect">
            <a:avLst/>
          </a:prstGeom>
          <a:solidFill>
            <a:srgbClr val="0F172A"/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85606" y="3429893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78BFA"/>
                </a:solidFill>
              </a:rPr>
              <a:t>$</a:t>
            </a:r>
            <a:endParaRPr lang="en-US" sz="834" dirty="0"/>
          </a:p>
        </p:txBody>
      </p:sp>
      <p:sp>
        <p:nvSpPr>
          <p:cNvPr id="24" name="Text 19"/>
          <p:cNvSpPr/>
          <p:nvPr/>
        </p:nvSpPr>
        <p:spPr>
          <a:xfrm>
            <a:off x="5558144" y="3429893"/>
            <a:ext cx="15286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</a:rPr>
              <a:t>php bin/console make:entity</a:t>
            </a:r>
            <a:endParaRPr lang="en-US" sz="834" dirty="0"/>
          </a:p>
        </p:txBody>
      </p:sp>
      <p:sp>
        <p:nvSpPr>
          <p:cNvPr id="25" name="Text 20"/>
          <p:cNvSpPr/>
          <p:nvPr/>
        </p:nvSpPr>
        <p:spPr>
          <a:xfrm>
            <a:off x="5207012" y="3906738"/>
            <a:ext cx="336548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El comando interactivo genera la clase y los atributos automáticamente.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766167"/>
            <a:ext cx="8001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85750"/>
            <a:ext cx="403552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</a:rPr>
              <a:t>Consultas con Repositorios</a:t>
            </a:r>
            <a:endParaRPr lang="en-US" sz="2121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0" y="347365"/>
            <a:ext cx="285750" cy="2857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909042"/>
            <a:ext cx="5191134" cy="162542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71500" y="909042"/>
            <a:ext cx="5191134" cy="2768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1178719"/>
            <a:ext cx="519113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6"/>
          <p:cNvSpPr/>
          <p:nvPr/>
        </p:nvSpPr>
        <p:spPr>
          <a:xfrm>
            <a:off x="714375" y="966192"/>
            <a:ext cx="10123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8BDF8"/>
                </a:solidFill>
              </a:rPr>
              <a:t>Métodos Estándar</a:t>
            </a:r>
            <a:endParaRPr lang="en-US" sz="784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459" y="986730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1500" y="1178719"/>
            <a:ext cx="5191134" cy="13343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64748B"/>
                </a:solidFill>
              </a:rPr>
              <a:t>// Buscar por ID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$product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$repository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find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(1);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64748B"/>
                </a:solidFill>
              </a:rPr>
              <a:t>// Buscar por criterios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$user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$repository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findOneBy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([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'email'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=&gt;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'admin@x.com'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]);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64748B"/>
                </a:solidFill>
              </a:rPr>
              <a:t>// Buscar todos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$all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$repository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findAll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();</a:t>
            </a:r>
            <a:endParaRPr lang="en-US" sz="727" dirty="0"/>
          </a:p>
        </p:txBody>
      </p:sp>
      <p:sp>
        <p:nvSpPr>
          <p:cNvPr id="13" name="Shape 8"/>
          <p:cNvSpPr/>
          <p:nvPr/>
        </p:nvSpPr>
        <p:spPr>
          <a:xfrm>
            <a:off x="571500" y="2655912"/>
            <a:ext cx="5191134" cy="176542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71500" y="2655912"/>
            <a:ext cx="5191134" cy="2768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2925589"/>
            <a:ext cx="519113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1"/>
          <p:cNvSpPr/>
          <p:nvPr/>
        </p:nvSpPr>
        <p:spPr>
          <a:xfrm>
            <a:off x="714375" y="2713062"/>
            <a:ext cx="16332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8BDF8"/>
                </a:solidFill>
              </a:rPr>
              <a:t>QueryBuilder (Personalizado)</a:t>
            </a:r>
            <a:endParaRPr lang="en-US" sz="784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459" y="2733601"/>
            <a:ext cx="114300" cy="1143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1500" y="2925589"/>
            <a:ext cx="5191134" cy="14743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findExpensive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$price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)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{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createQueryBuilder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'p'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)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andWhere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'p.price &gt; :val'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)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setParameter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'val'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$price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)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orderBy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'p.id'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'ASC'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)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getQuery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()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getResult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}</a:t>
            </a:r>
            <a:endParaRPr lang="en-US" sz="727" dirty="0"/>
          </a:p>
        </p:txBody>
      </p:sp>
      <p:sp>
        <p:nvSpPr>
          <p:cNvPr id="19" name="Shape 13"/>
          <p:cNvSpPr/>
          <p:nvPr/>
        </p:nvSpPr>
        <p:spPr>
          <a:xfrm>
            <a:off x="5976947" y="909042"/>
            <a:ext cx="2595553" cy="866487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5976947" y="909042"/>
            <a:ext cx="28575" cy="866487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103" y="1039416"/>
            <a:ext cx="160734" cy="128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16275" y="1016198"/>
            <a:ext cx="11000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Métodos Mágicos</a:t>
            </a:r>
            <a:endParaRPr lang="en-US" sz="885" dirty="0"/>
          </a:p>
        </p:txBody>
      </p:sp>
      <p:sp>
        <p:nvSpPr>
          <p:cNvPr id="23" name="Text 16"/>
          <p:cNvSpPr/>
          <p:nvPr/>
        </p:nvSpPr>
        <p:spPr>
          <a:xfrm>
            <a:off x="6084103" y="1248370"/>
            <a:ext cx="2381241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Doctrine ofrece métodos listos para usar para operaciones comunes: buscar por ID o campos simples sin SQL.</a:t>
            </a:r>
            <a:endParaRPr lang="en-US" sz="727" dirty="0"/>
          </a:p>
        </p:txBody>
      </p:sp>
      <p:sp>
        <p:nvSpPr>
          <p:cNvPr id="24" name="Shape 17"/>
          <p:cNvSpPr/>
          <p:nvPr/>
        </p:nvSpPr>
        <p:spPr>
          <a:xfrm>
            <a:off x="5976947" y="1918404"/>
            <a:ext cx="2595553" cy="956872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5976947" y="1918404"/>
            <a:ext cx="28575" cy="956872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4103" y="2048777"/>
            <a:ext cx="160734" cy="1285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316275" y="2025560"/>
            <a:ext cx="7100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DQL vs SQL</a:t>
            </a:r>
            <a:endParaRPr lang="en-US" sz="885" dirty="0"/>
          </a:p>
        </p:txBody>
      </p:sp>
      <p:sp>
        <p:nvSpPr>
          <p:cNvPr id="28" name="Text 20"/>
          <p:cNvSpPr/>
          <p:nvPr/>
        </p:nvSpPr>
        <p:spPr>
          <a:xfrm>
            <a:off x="6084103" y="2257732"/>
            <a:ext cx="238124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QueryBuilder genera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DQL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(sobre </a:t>
            </a:r>
            <a:pPr algn="l" indent="0" marL="0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CBD5E1"/>
                </a:solidFill>
              </a:rPr>
              <a:t>Objetos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),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haciendo el código agnóstico de la base de datos.</a:t>
            </a:r>
            <a:endParaRPr lang="en-US" sz="727" dirty="0"/>
          </a:p>
        </p:txBody>
      </p:sp>
      <p:sp>
        <p:nvSpPr>
          <p:cNvPr id="29" name="Shape 21"/>
          <p:cNvSpPr/>
          <p:nvPr/>
        </p:nvSpPr>
        <p:spPr>
          <a:xfrm>
            <a:off x="6084103" y="2594883"/>
            <a:ext cx="1459250" cy="1732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2"/>
          <p:cNvSpPr/>
          <p:nvPr/>
        </p:nvSpPr>
        <p:spPr>
          <a:xfrm>
            <a:off x="6084103" y="2594883"/>
            <a:ext cx="1459250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SELECT * FROM product WHERE...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018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23330"/>
            <a:ext cx="8001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644568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</a:rPr>
              <a:t>Formularios en Symfony</a:t>
            </a:r>
            <a:endParaRPr lang="en-US" sz="2121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188" y="490240"/>
            <a:ext cx="214313" cy="2857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1066205"/>
            <a:ext cx="3893344" cy="329148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71500" y="1066205"/>
            <a:ext cx="3893344" cy="2768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1335881"/>
            <a:ext cx="3893344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143893"/>
            <a:ext cx="85725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1538" y="1123355"/>
            <a:ext cx="13176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8BDF8"/>
                </a:solidFill>
              </a:rPr>
              <a:t>1. Definición (UserType)</a:t>
            </a:r>
            <a:endParaRPr lang="en-US" sz="784" dirty="0"/>
          </a:p>
        </p:txBody>
      </p:sp>
      <p:sp>
        <p:nvSpPr>
          <p:cNvPr id="12" name="Text 7"/>
          <p:cNvSpPr/>
          <p:nvPr/>
        </p:nvSpPr>
        <p:spPr>
          <a:xfrm>
            <a:off x="571500" y="1335881"/>
            <a:ext cx="3893344" cy="30218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buildForm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BBF24"/>
                </a:solidFill>
              </a:rPr>
              <a:t>FormBuilderInterface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$builder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array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$options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)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{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$builder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add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'email'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BBF24"/>
                </a:solidFill>
              </a:rPr>
              <a:t>EmailType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::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class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)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add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'password'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BBF24"/>
                </a:solidFill>
              </a:rPr>
              <a:t>PasswordType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::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class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)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add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'save'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BBF24"/>
                </a:solidFill>
              </a:rPr>
              <a:t>SubmitType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::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class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, [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    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'label'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=&gt;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'Registrar'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    ]);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}</a:t>
            </a:r>
            <a:endParaRPr lang="en-US" sz="727" dirty="0"/>
          </a:p>
        </p:txBody>
      </p:sp>
      <p:sp>
        <p:nvSpPr>
          <p:cNvPr id="13" name="Shape 8"/>
          <p:cNvSpPr/>
          <p:nvPr/>
        </p:nvSpPr>
        <p:spPr>
          <a:xfrm>
            <a:off x="571500" y="4471988"/>
            <a:ext cx="3893344" cy="457200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4636294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8688" y="4572000"/>
            <a:ext cx="3429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1FAE5"/>
                </a:solidFill>
              </a:rPr>
              <a:t>Abstracción Total: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1FAE5"/>
                </a:solidFill>
              </a:rPr>
              <a:t> Defines los campos y tipos en una clase PHP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1FAE5"/>
                </a:solidFill>
              </a:rPr>
              <a:t>separada, reutilizable en cualquier parte.</a:t>
            </a:r>
            <a:endParaRPr lang="en-US" sz="683" dirty="0"/>
          </a:p>
        </p:txBody>
      </p:sp>
      <p:sp>
        <p:nvSpPr>
          <p:cNvPr id="16" name="Shape 10"/>
          <p:cNvSpPr/>
          <p:nvPr/>
        </p:nvSpPr>
        <p:spPr>
          <a:xfrm>
            <a:off x="4679156" y="1066205"/>
            <a:ext cx="3893344" cy="386298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679156" y="1066205"/>
            <a:ext cx="3893344" cy="2768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2"/>
          <p:cNvSpPr/>
          <p:nvPr/>
        </p:nvSpPr>
        <p:spPr>
          <a:xfrm>
            <a:off x="4679156" y="1335881"/>
            <a:ext cx="3893344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1143893"/>
            <a:ext cx="142875" cy="1143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36344" y="1123355"/>
            <a:ext cx="16286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8BDF8"/>
                </a:solidFill>
              </a:rPr>
              <a:t>2. Procesamiento (Controller)</a:t>
            </a:r>
            <a:endParaRPr lang="en-US" sz="784" dirty="0"/>
          </a:p>
        </p:txBody>
      </p:sp>
      <p:sp>
        <p:nvSpPr>
          <p:cNvPr id="21" name="Text 14"/>
          <p:cNvSpPr/>
          <p:nvPr/>
        </p:nvSpPr>
        <p:spPr>
          <a:xfrm>
            <a:off x="4679156" y="1335881"/>
            <a:ext cx="3893344" cy="35933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472B6"/>
                </a:solidFill>
              </a:rPr>
              <a:t>#[Route('/register', name: 'app_register')]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register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BBF24"/>
                </a:solidFill>
              </a:rPr>
              <a:t>Request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$request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):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BBF24"/>
                </a:solidFill>
              </a:rPr>
              <a:t>Response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{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$user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new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BBF24"/>
                </a:solidFill>
              </a:rPr>
              <a:t>User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$form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createForm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BBF24"/>
                </a:solidFill>
              </a:rPr>
              <a:t>UserType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::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class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$user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$form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handleRequest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$request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if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$form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isSubmitted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() &amp;&amp;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$form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isValid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()) {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64748B"/>
                </a:solidFill>
              </a:rPr>
              <a:t>// Guardar en BD...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redirectToRoute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'home'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render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'register.html.twig'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, [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'form'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=&gt;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3C5FD"/>
                </a:solidFill>
              </a:rPr>
              <a:t>$form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]);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}</a:t>
            </a:r>
            <a:endParaRPr lang="en-US" sz="68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861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018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23330"/>
            <a:ext cx="8001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450779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</a:rPr>
              <a:t>Seguridad y Control de Acceso</a:t>
            </a:r>
            <a:endParaRPr lang="en-US" sz="2121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0" y="490240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938" y="1707468"/>
            <a:ext cx="14653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Configuración Global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571500" y="1987860"/>
            <a:ext cx="2590809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security.yaml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define los </a:t>
            </a:r>
            <a:pPr algn="l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Firewalls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(autenticación) y el </a:t>
            </a:r>
            <a:pPr algn="l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Access Control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(autorización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por URL).</a:t>
            </a:r>
            <a:endParaRPr lang="en-US" sz="780" dirty="0"/>
          </a:p>
        </p:txBody>
      </p:sp>
      <p:sp>
        <p:nvSpPr>
          <p:cNvPr id="9" name="Shape 5"/>
          <p:cNvSpPr/>
          <p:nvPr/>
        </p:nvSpPr>
        <p:spPr>
          <a:xfrm>
            <a:off x="3376622" y="1066205"/>
            <a:ext cx="5195878" cy="199690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381366" y="1066205"/>
            <a:ext cx="5191134" cy="21967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7"/>
          <p:cNvSpPr/>
          <p:nvPr/>
        </p:nvSpPr>
        <p:spPr>
          <a:xfrm>
            <a:off x="3381366" y="1278731"/>
            <a:ext cx="519113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8"/>
          <p:cNvSpPr/>
          <p:nvPr/>
        </p:nvSpPr>
        <p:spPr>
          <a:xfrm>
            <a:off x="3381366" y="1066205"/>
            <a:ext cx="5191134" cy="219670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config/packages/security.yaml</a:t>
            </a:r>
            <a:endParaRPr lang="en-US" sz="674" dirty="0"/>
          </a:p>
        </p:txBody>
      </p:sp>
      <p:sp>
        <p:nvSpPr>
          <p:cNvPr id="13" name="Text 9"/>
          <p:cNvSpPr/>
          <p:nvPr/>
        </p:nvSpPr>
        <p:spPr>
          <a:xfrm>
            <a:off x="3381366" y="1278731"/>
            <a:ext cx="5191134" cy="176467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security: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firewalls: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main: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lazy: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true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provider: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app_user_provider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form_login: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login_path: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app_login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check_path: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app_login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access_control: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 { path: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^/admin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roles: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ROLE_ADMIN }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- { path: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^/profile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472B6"/>
                </a:solidFill>
              </a:rPr>
              <a:t>roles: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ROLE_USER }</a:t>
            </a:r>
            <a:endParaRPr lang="en-US" sz="727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05917"/>
            <a:ext cx="178594" cy="1428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1531" y="3780020"/>
            <a:ext cx="168679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Lógica Granular (Voters)</a:t>
            </a:r>
            <a:endParaRPr lang="en-US" sz="987" dirty="0"/>
          </a:p>
        </p:txBody>
      </p:sp>
      <p:sp>
        <p:nvSpPr>
          <p:cNvPr id="16" name="Text 11"/>
          <p:cNvSpPr/>
          <p:nvPr/>
        </p:nvSpPr>
        <p:spPr>
          <a:xfrm>
            <a:off x="571500" y="4060413"/>
            <a:ext cx="2590809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Para permisos complejos (ej: "¿Es el dueño de este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post?"), usamos clases </a:t>
            </a:r>
            <a:pPr algn="l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Voter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.</a:t>
            </a:r>
            <a:endParaRPr lang="en-US" sz="780" dirty="0"/>
          </a:p>
        </p:txBody>
      </p:sp>
      <p:sp>
        <p:nvSpPr>
          <p:cNvPr id="17" name="Shape 12"/>
          <p:cNvSpPr/>
          <p:nvPr/>
        </p:nvSpPr>
        <p:spPr>
          <a:xfrm>
            <a:off x="3376622" y="3200567"/>
            <a:ext cx="5195878" cy="172862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381366" y="3207711"/>
            <a:ext cx="5191134" cy="21967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Shape 14"/>
          <p:cNvSpPr/>
          <p:nvPr/>
        </p:nvSpPr>
        <p:spPr>
          <a:xfrm>
            <a:off x="3381366" y="3420238"/>
            <a:ext cx="519113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5"/>
          <p:cNvSpPr/>
          <p:nvPr/>
        </p:nvSpPr>
        <p:spPr>
          <a:xfrm>
            <a:off x="3381366" y="3207711"/>
            <a:ext cx="5191134" cy="219670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src/Security/PostVoter.php</a:t>
            </a:r>
            <a:endParaRPr lang="en-US" sz="674" dirty="0"/>
          </a:p>
        </p:txBody>
      </p:sp>
      <p:sp>
        <p:nvSpPr>
          <p:cNvPr id="21" name="Text 16"/>
          <p:cNvSpPr/>
          <p:nvPr/>
        </p:nvSpPr>
        <p:spPr>
          <a:xfrm>
            <a:off x="3381366" y="3423810"/>
            <a:ext cx="5191134" cy="15053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protected function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voteOnAttribute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$attribute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$post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$token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):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bool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{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$user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$token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getUser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if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(!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$user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instanceof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User) {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return false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084FC"/>
                </a:solidFill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$post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getAuthor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() ===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$user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}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018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23330"/>
            <a:ext cx="8001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5644009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</a:rPr>
              <a:t>Generación de Código (Maker Bundle)</a:t>
            </a:r>
            <a:endParaRPr lang="en-US" sz="2121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031" y="490240"/>
            <a:ext cx="321469" cy="2857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2047577"/>
            <a:ext cx="3500438" cy="5572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2169021"/>
            <a:ext cx="314325" cy="314325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254746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4425" y="2170807"/>
            <a:ext cx="28432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</a:rPr>
              <a:t>make:entity</a:t>
            </a:r>
            <a:endParaRPr lang="en-US" sz="834" dirty="0"/>
          </a:p>
        </p:txBody>
      </p:sp>
      <p:sp>
        <p:nvSpPr>
          <p:cNvPr id="11" name="Text 6"/>
          <p:cNvSpPr/>
          <p:nvPr/>
        </p:nvSpPr>
        <p:spPr>
          <a:xfrm>
            <a:off x="1114425" y="2354759"/>
            <a:ext cx="28432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Crea o actualiza entidades Doctrine y repositorios.</a:t>
            </a:r>
            <a:endParaRPr lang="en-US" sz="674" dirty="0"/>
          </a:p>
        </p:txBody>
      </p:sp>
      <p:sp>
        <p:nvSpPr>
          <p:cNvPr id="12" name="Shape 7"/>
          <p:cNvSpPr/>
          <p:nvPr/>
        </p:nvSpPr>
        <p:spPr>
          <a:xfrm>
            <a:off x="571500" y="2711946"/>
            <a:ext cx="3500438" cy="5572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85800" y="2833390"/>
            <a:ext cx="314325" cy="314325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919115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14425" y="2835176"/>
            <a:ext cx="28432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</a:rPr>
              <a:t>make:controller</a:t>
            </a:r>
            <a:endParaRPr lang="en-US" sz="834" dirty="0"/>
          </a:p>
        </p:txBody>
      </p:sp>
      <p:sp>
        <p:nvSpPr>
          <p:cNvPr id="16" name="Text 10"/>
          <p:cNvSpPr/>
          <p:nvPr/>
        </p:nvSpPr>
        <p:spPr>
          <a:xfrm>
            <a:off x="1114425" y="3019127"/>
            <a:ext cx="28432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Genera un controlador, ruta y plantilla Twig básica.</a:t>
            </a:r>
            <a:endParaRPr lang="en-US" sz="674" dirty="0"/>
          </a:p>
        </p:txBody>
      </p:sp>
      <p:sp>
        <p:nvSpPr>
          <p:cNvPr id="17" name="Shape 11"/>
          <p:cNvSpPr/>
          <p:nvPr/>
        </p:nvSpPr>
        <p:spPr>
          <a:xfrm>
            <a:off x="571500" y="3376315"/>
            <a:ext cx="3500438" cy="5572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85800" y="3497759"/>
            <a:ext cx="314325" cy="314325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583484"/>
            <a:ext cx="142875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14425" y="3499545"/>
            <a:ext cx="28432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</a:rPr>
              <a:t>make:form</a:t>
            </a:r>
            <a:endParaRPr lang="en-US" sz="834" dirty="0"/>
          </a:p>
        </p:txBody>
      </p:sp>
      <p:sp>
        <p:nvSpPr>
          <p:cNvPr id="21" name="Text 14"/>
          <p:cNvSpPr/>
          <p:nvPr/>
        </p:nvSpPr>
        <p:spPr>
          <a:xfrm>
            <a:off x="1114425" y="3683496"/>
            <a:ext cx="28432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Crea una clase FormType basada en una entidad.</a:t>
            </a:r>
            <a:endParaRPr lang="en-US" sz="674" dirty="0"/>
          </a:p>
        </p:txBody>
      </p:sp>
      <p:sp>
        <p:nvSpPr>
          <p:cNvPr id="22" name="Shape 15"/>
          <p:cNvSpPr/>
          <p:nvPr/>
        </p:nvSpPr>
        <p:spPr>
          <a:xfrm>
            <a:off x="4357688" y="1568946"/>
            <a:ext cx="4214813" cy="285750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364189" y="1568946"/>
            <a:ext cx="4208311" cy="19288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17"/>
          <p:cNvSpPr/>
          <p:nvPr/>
        </p:nvSpPr>
        <p:spPr>
          <a:xfrm>
            <a:off x="4364189" y="1754684"/>
            <a:ext cx="4208311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18"/>
          <p:cNvSpPr/>
          <p:nvPr/>
        </p:nvSpPr>
        <p:spPr>
          <a:xfrm>
            <a:off x="4364189" y="1754684"/>
            <a:ext cx="4208311" cy="187880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2C55E"/>
                </a:solidFill>
              </a:rPr>
              <a:t>user@symfony:~$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AFC"/>
                </a:solidFill>
              </a:rPr>
              <a:t>php bin/console make:controller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2C55E"/>
                </a:solidFill>
              </a:rPr>
              <a:t>Choose a name for your controller class (e.g. OrangeGnomeController):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&gt;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AFC"/>
                </a:solidFill>
              </a:rPr>
              <a:t>BlogController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2C55E"/>
                </a:solidFill>
              </a:rPr>
              <a:t>created: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src/Controller/BlogController.php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2C55E"/>
                </a:solidFill>
              </a:rPr>
              <a:t>created: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templates/blog/index.html.twig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2C55E"/>
                </a:solidFill>
              </a:rPr>
              <a:t>Success!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8BDF8"/>
                </a:solidFill>
              </a:rPr>
              <a:t>Next: Open your new controller and add some pages!</a:t>
            </a:r>
            <a:endParaRPr lang="en-US" sz="72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018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23330"/>
            <a:ext cx="8001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5223058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</a:rPr>
              <a:t>Frontend sin Node.js: AssetMapper</a:t>
            </a:r>
            <a:endParaRPr lang="en-US" sz="2121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3" y="490240"/>
            <a:ext cx="357188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1094780"/>
            <a:ext cx="3821906" cy="31968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94A3B8"/>
                </a:solidFill>
              </a:rPr>
              <a:t>Tradicional (Webpack)</a:t>
            </a:r>
            <a:endParaRPr lang="en-US" sz="1193" dirty="0"/>
          </a:p>
        </p:txBody>
      </p:sp>
      <p:sp>
        <p:nvSpPr>
          <p:cNvPr id="8" name="Shape 4"/>
          <p:cNvSpPr/>
          <p:nvPr/>
        </p:nvSpPr>
        <p:spPr>
          <a:xfrm>
            <a:off x="571500" y="1500188"/>
            <a:ext cx="3821906" cy="225028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563" y="2189559"/>
            <a:ext cx="535781" cy="8572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839516" y="1628775"/>
            <a:ext cx="1285875" cy="235744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839516" y="1628775"/>
            <a:ext cx="1285875" cy="235744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npm install</a:t>
            </a:r>
            <a:endParaRPr lang="en-US" sz="727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233" y="1935956"/>
            <a:ext cx="96441" cy="12858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839516" y="2150269"/>
            <a:ext cx="1285875" cy="3714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839516" y="2150269"/>
            <a:ext cx="1285875" cy="371475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node_modules (Heavy)</a:t>
            </a:r>
            <a:endParaRPr lang="en-US" sz="727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4233" y="2593181"/>
            <a:ext cx="96441" cy="12858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839516" y="2807494"/>
            <a:ext cx="1285875" cy="235744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1839516" y="2807494"/>
            <a:ext cx="1285875" cy="235744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Build / Compile</a:t>
            </a:r>
            <a:endParaRPr lang="en-US" sz="727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4233" y="3114675"/>
            <a:ext cx="96441" cy="12858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1839516" y="3328988"/>
            <a:ext cx="1285875" cy="235744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1839516" y="3328988"/>
            <a:ext cx="1285875" cy="235744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bundle.js (Giant)</a:t>
            </a:r>
            <a:endParaRPr lang="en-US" sz="727" dirty="0"/>
          </a:p>
        </p:txBody>
      </p:sp>
      <p:sp>
        <p:nvSpPr>
          <p:cNvPr id="21" name="Text 13"/>
          <p:cNvSpPr/>
          <p:nvPr/>
        </p:nvSpPr>
        <p:spPr>
          <a:xfrm>
            <a:off x="4750594" y="1094780"/>
            <a:ext cx="3821906" cy="31968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</a:rPr>
              <a:t>Moderno (AssetMapper)</a:t>
            </a:r>
            <a:endParaRPr lang="en-US" sz="1193" dirty="0"/>
          </a:p>
        </p:txBody>
      </p:sp>
      <p:sp>
        <p:nvSpPr>
          <p:cNvPr id="22" name="Shape 14"/>
          <p:cNvSpPr/>
          <p:nvPr/>
        </p:nvSpPr>
        <p:spPr>
          <a:xfrm>
            <a:off x="4750594" y="1500188"/>
            <a:ext cx="3821906" cy="2114550"/>
          </a:xfrm>
          <a:prstGeom prst="rect">
            <a:avLst/>
          </a:prstGeom>
          <a:solidFill>
            <a:srgbClr val="1E293B"/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6018609" y="1628775"/>
            <a:ext cx="1285875" cy="235744"/>
          </a:xfrm>
          <a:prstGeom prst="rect">
            <a:avLst/>
          </a:prstGeom>
          <a:solidFill>
            <a:srgbClr val="0F172A"/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018609" y="1628775"/>
            <a:ext cx="1285875" cy="235744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</a:rPr>
              <a:t>composer require</a:t>
            </a:r>
            <a:endParaRPr lang="en-US" sz="727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327" y="1935956"/>
            <a:ext cx="96441" cy="128588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6018609" y="2150269"/>
            <a:ext cx="1285875" cy="235744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6018609" y="2150269"/>
            <a:ext cx="1285875" cy="235744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vendor/ (PHP)</a:t>
            </a:r>
            <a:endParaRPr lang="en-US" sz="727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3327" y="2457450"/>
            <a:ext cx="96441" cy="12858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6018609" y="2671763"/>
            <a:ext cx="1285875" cy="235744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6018609" y="2671763"/>
            <a:ext cx="1285875" cy="235744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Import Maps (JSON)</a:t>
            </a:r>
            <a:endParaRPr lang="en-US" sz="727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3327" y="2978944"/>
            <a:ext cx="96441" cy="128588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6018609" y="3193256"/>
            <a:ext cx="1285875" cy="235744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33" name="Text 22"/>
          <p:cNvSpPr/>
          <p:nvPr/>
        </p:nvSpPr>
        <p:spPr>
          <a:xfrm>
            <a:off x="6018609" y="3193256"/>
            <a:ext cx="1285875" cy="235744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ES Modules (Native)</a:t>
            </a:r>
            <a:endParaRPr lang="en-US" sz="727" dirty="0"/>
          </a:p>
        </p:txBody>
      </p:sp>
      <p:sp>
        <p:nvSpPr>
          <p:cNvPr id="34" name="Shape 23"/>
          <p:cNvSpPr/>
          <p:nvPr/>
        </p:nvSpPr>
        <p:spPr>
          <a:xfrm>
            <a:off x="4750594" y="3714750"/>
            <a:ext cx="3821906" cy="961504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5" name="Text 24"/>
          <p:cNvSpPr/>
          <p:nvPr/>
        </p:nvSpPr>
        <p:spPr>
          <a:xfrm>
            <a:off x="4864894" y="3829050"/>
            <a:ext cx="35933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importmap.php</a:t>
            </a:r>
            <a:endParaRPr lang="en-US" sz="727" dirty="0"/>
          </a:p>
        </p:txBody>
      </p:sp>
      <p:sp>
        <p:nvSpPr>
          <p:cNvPr id="36" name="Text 25"/>
          <p:cNvSpPr/>
          <p:nvPr/>
        </p:nvSpPr>
        <p:spPr>
          <a:xfrm>
            <a:off x="4864894" y="4007644"/>
            <a:ext cx="3593306" cy="54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[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'app'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=&gt; [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'path'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=&gt;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'./assets/app.js'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'entrypoint'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=&gt;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0A5FA"/>
                </a:solidFill>
              </a:rPr>
              <a:t>true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],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'@hotwired/stimulus'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=&gt; [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'version'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=&gt;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6EFAC"/>
                </a:solidFill>
              </a:rPr>
              <a:t>'3.2.1'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],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];</a:t>
            </a:r>
            <a:endParaRPr lang="en-US" sz="72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589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80480"/>
            <a:ext cx="8001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047786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</a:rPr>
              <a:t>Estilos y Reactividad</a:t>
            </a:r>
            <a:endParaRPr lang="en-US" sz="2121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188" y="490240"/>
            <a:ext cx="214313" cy="2857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1266230"/>
            <a:ext cx="3821906" cy="344864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71500" y="1266230"/>
            <a:ext cx="3821906" cy="416123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1675209"/>
            <a:ext cx="3821906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4" y="1384995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8700" y="1373386"/>
            <a:ext cx="8618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Tailwind CSS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750094" y="1853803"/>
            <a:ext cx="3464719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Estilado rápido usando clases utilitarias directamente en el HTML. Sin archivos CSS separados.</a:t>
            </a:r>
            <a:endParaRPr lang="en-US" sz="780" dirty="0"/>
          </a:p>
        </p:txBody>
      </p:sp>
      <p:sp>
        <p:nvSpPr>
          <p:cNvPr id="13" name="Shape 8"/>
          <p:cNvSpPr/>
          <p:nvPr/>
        </p:nvSpPr>
        <p:spPr>
          <a:xfrm>
            <a:off x="750094" y="2289572"/>
            <a:ext cx="3464719" cy="646509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50094" y="2289572"/>
            <a:ext cx="3464719" cy="64650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&lt;button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5B4FC"/>
                </a:solidFill>
              </a:rPr>
              <a:t>class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=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86EFAC"/>
                </a:solidFill>
              </a:rPr>
              <a:t>"bg-blue-500 hover:bg-blue-700 text-white font-bold py-2 px-4 rounded shadow-lg"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&gt;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Click Me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&lt;/button&gt;</a:t>
            </a:r>
            <a:endParaRPr lang="en-US" sz="674" dirty="0"/>
          </a:p>
        </p:txBody>
      </p:sp>
      <p:sp>
        <p:nvSpPr>
          <p:cNvPr id="15" name="Shape 10"/>
          <p:cNvSpPr/>
          <p:nvPr/>
        </p:nvSpPr>
        <p:spPr>
          <a:xfrm>
            <a:off x="750094" y="3064669"/>
            <a:ext cx="3464719" cy="551855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2146362" y="3207544"/>
            <a:ext cx="672154" cy="25181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2"/>
          <p:cNvSpPr/>
          <p:nvPr/>
        </p:nvSpPr>
        <p:spPr>
          <a:xfrm>
            <a:off x="2146362" y="3207544"/>
            <a:ext cx="672154" cy="251817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FFFFFF"/>
                </a:solidFill>
              </a:rPr>
              <a:t>Click Me</a:t>
            </a:r>
            <a:endParaRPr lang="en-US" sz="650" dirty="0"/>
          </a:p>
        </p:txBody>
      </p:sp>
      <p:sp>
        <p:nvSpPr>
          <p:cNvPr id="18" name="Shape 13"/>
          <p:cNvSpPr/>
          <p:nvPr/>
        </p:nvSpPr>
        <p:spPr>
          <a:xfrm>
            <a:off x="4750594" y="1266230"/>
            <a:ext cx="3821906" cy="344864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50594" y="1266230"/>
            <a:ext cx="3821906" cy="416123"/>
          </a:xfrm>
          <a:prstGeom prst="rect">
            <a:avLst/>
          </a:prstGeom>
          <a:solidFill>
            <a:srgbClr val="FBBF24">
              <a:alpha val="1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4750594" y="1675209"/>
            <a:ext cx="3821906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1384995"/>
            <a:ext cx="150019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86363" y="1373386"/>
            <a:ext cx="142046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Stimulus Controllers</a:t>
            </a:r>
            <a:endParaRPr lang="en-US" sz="987" dirty="0"/>
          </a:p>
        </p:txBody>
      </p:sp>
      <p:sp>
        <p:nvSpPr>
          <p:cNvPr id="23" name="Text 17"/>
          <p:cNvSpPr/>
          <p:nvPr/>
        </p:nvSpPr>
        <p:spPr>
          <a:xfrm>
            <a:off x="4929188" y="1853803"/>
            <a:ext cx="3464719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JavaScript modesto que conecta el HTML con el comportamiento </a:t>
            </a:r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mediante atributos </a:t>
            </a:r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data-</a:t>
            </a:r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.</a:t>
            </a:r>
            <a:endParaRPr lang="en-US" sz="780" dirty="0"/>
          </a:p>
        </p:txBody>
      </p:sp>
      <p:sp>
        <p:nvSpPr>
          <p:cNvPr id="24" name="Shape 18"/>
          <p:cNvSpPr/>
          <p:nvPr/>
        </p:nvSpPr>
        <p:spPr>
          <a:xfrm>
            <a:off x="4929188" y="2289572"/>
            <a:ext cx="3464719" cy="36790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929188" y="2289572"/>
            <a:ext cx="3464719" cy="3679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&lt;div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5B4FC"/>
                </a:solidFill>
              </a:rPr>
              <a:t>data-controller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=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86EFAC"/>
                </a:solidFill>
              </a:rPr>
              <a:t>"hello"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&gt;&lt;/div&gt;</a:t>
            </a:r>
            <a:endParaRPr lang="en-US" sz="674" dirty="0"/>
          </a:p>
        </p:txBody>
      </p:sp>
      <p:sp>
        <p:nvSpPr>
          <p:cNvPr id="26" name="Shape 20"/>
          <p:cNvSpPr/>
          <p:nvPr/>
        </p:nvSpPr>
        <p:spPr>
          <a:xfrm>
            <a:off x="4929188" y="2786063"/>
            <a:ext cx="3464719" cy="120372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929188" y="2786063"/>
            <a:ext cx="3464719" cy="12037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084FC"/>
                </a:solidFill>
              </a:rPr>
              <a:t>import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 Controller }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084FC"/>
                </a:solidFill>
              </a:rPr>
              <a:t>from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86EFAC"/>
                </a:solidFill>
              </a:rPr>
              <a:t>'@hotwired/stimulus'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084FC"/>
                </a:solidFill>
              </a:rPr>
              <a:t>export default class extends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Controller {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0A5FA"/>
                </a:solidFill>
              </a:rPr>
              <a:t>connect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084FC"/>
                </a:solidFill>
              </a:rPr>
              <a:t>this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.element.textContent =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86EFAC"/>
                </a:solidFill>
              </a:rPr>
              <a:t>"Hello World!"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}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</a:t>
            </a:r>
            <a:endParaRPr lang="en-US" sz="67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2025-12-14T23:26:15Z</dcterms:created>
  <dcterms:modified xsi:type="dcterms:W3CDTF">2025-12-14T23:26:15Z</dcterms:modified>
</cp:coreProperties>
</file>